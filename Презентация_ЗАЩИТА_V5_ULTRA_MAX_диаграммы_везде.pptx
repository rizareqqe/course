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Представьте тему и сразу обозначьте, что проект включает БД, API, GUI, безопасность и тестирование.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Кратко покажите структуру доклада. Объясните, что презентация идет от проблемы к архитектуре, реализации и результатам.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Сделайте акцент на том, что проект важен не только как каталог, а как пример правильного хранения связанных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Озвучьте цель одной фразой, затем покажите задачи как последовательность этапов разработки.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Поясните, что M:N связи нельзя хранить строкой в одной колонке, поэтому нужны отдельные таблицы-связки.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Разделите требования на три группы и подчеркните, что они закрываются выбранной архитектурой.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Обязательно скажите: безопасность нельзя строить только на UI, поэтому проверка прав перенесена в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визуальную схему справа: центральная сущность movies связана со справочниками через FK и таблицы-связки.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Поясните простым языком: нормализация делает данные чище и облегчает дальнейшее сопровождение.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Скажите, что SQL-скрипт воспроизводим: его можно выполнить с нуля и получить готовую демонстрационную БД.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Подчеркните разделение ответственности: клиент не работает с БД напрямую, а общается через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Покажите, что жизненный цикл запроса контролируемый: проверка прав происходит до изменения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Скажите, что код контроллеров демонстрирует реальную связь между UI, ролями, API и базой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Поясните, что GUI не заменяет безопасность, а делает работу удобной и понятной для пользователя.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Важно сказать, что тестирование охватывает как успешные сценарии, так и ошибки пользователя.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Сформулируйте результат как доказательство достижения цели: есть БД, API, GUI и проверенные сценарии.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Поясните, что тестовые данные подобраны так, чтобы на защите можно было быстро показать фильтрацию, карточки и связи.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Скажите, что документация превращает проект из набора файлов в сопровождаемую информационную систему.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Покажите, что проект имеет понятный roadmap и может развиваться как полноценная информационная система.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Финальная мысль: работа показывает полный цикл — от анализа предметной области до демонстрируемого программного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центральную роль movies и объясните, почему таблицы-связки необходимы для M:N отношений.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Расскажите, что клиент не ходит напрямую в БД: вся логика проходит через API и серверные проверки.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Покажите, что презентация использует реальные контроллеры проекта, а не абстрактные примеры.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слайд показывает, как пользователь реально проходит путь от входа до сохранения фильма.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 этой матрице удобно отвечать комиссии, что именно было проверено и какой результат ожидался.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Сделайте паузу, поблагодарите комиссию и предложите перейти к вопросам или демонстрации.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96012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800">
                <a:solidFill>
                  <a:srgbClr val="15356A"/>
                </a:solidFill>
                <a:latin typeface="Calibri"/>
              </a:defRPr>
            </a:pPr>
            <a:r>
              <a:t>Разработка базы данных для хранения информации о художественных кинофильмах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52928"/>
            <a:ext cx="10241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212D42"/>
                </a:solidFill>
                <a:latin typeface="Calibri"/>
              </a:defRPr>
            </a:pPr>
            <a:r>
              <a:t>Курсовая работа по дисциплине «Технология разработки и защиты баз данных»</a:t>
            </a:r>
          </a:p>
          <a:p>
            <a:pPr>
              <a:spcAft>
                <a:spcPts val="700"/>
              </a:spcAft>
              <a:defRPr sz="1900">
                <a:solidFill>
                  <a:srgbClr val="212D42"/>
                </a:solidFill>
                <a:latin typeface="Calibri"/>
              </a:defRPr>
            </a:pPr>
            <a:r>
              <a:t>Студент(ка): группа П-31</a:t>
            </a:r>
          </a:p>
          <a:p>
            <a:pPr>
              <a:spcAft>
                <a:spcPts val="700"/>
              </a:spcAft>
              <a:defRPr sz="1900">
                <a:solidFill>
                  <a:srgbClr val="212D42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102352"/>
            <a:ext cx="1874519" cy="594360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V5 ULTRA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диаграммы везде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5102352"/>
            <a:ext cx="1874519" cy="59436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Notes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речь к слайдам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5102352"/>
            <a:ext cx="1874519" cy="59436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Code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реальные вставки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1/26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🎯  Содержание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Актуальность и постановка задачи проекта.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Предметная область, требования и ролевая модель.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Проектирование БД: ER-модель, нормализация, SQL-структура.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Архитектура приложения, API-запросы и реальные контроллеры проекта.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GUI, тестирование, результаты, перспективы и заключение.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Карта доклада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4927" y="2148840"/>
            <a:ext cx="3474720" cy="502920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1. Проблема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этап доклада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24927" y="2770632"/>
            <a:ext cx="3474720" cy="502920"/>
          </a:xfrm>
          <a:prstGeom prst="roundRect">
            <a:avLst/>
          </a:prstGeom>
          <a:solidFill>
            <a:srgbClr val="1E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2. Модель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этап доклада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3392424"/>
            <a:ext cx="3474720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3. API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этап доклада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4014216"/>
            <a:ext cx="3474720" cy="50292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4. GUI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этап доклада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24927" y="4636008"/>
            <a:ext cx="34747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5. Тесты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этап доклада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2/26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📌  Актуальность проекта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Каталог фильмов содержит взаимосвязанные данные: фильмы, жанры, режиссёры, актёры и роли пользователей.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Без строгой структуры возникают дубли, противоречия, ошибки связей и сложности при обновлении справочников.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Реляционная БД и API позволяют хранить данные централизованно, проверять целостность и управлять доступом.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Почему нужна БД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103120"/>
            <a:ext cx="1417320" cy="86868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900">
                <a:solidFill>
                  <a:srgbClr val="FFFFFF"/>
                </a:solidFill>
                <a:latin typeface="Calibri"/>
              </a:defRPr>
            </a:pPr>
            <a:r>
              <a:t>M:N</a:t>
            </a:r>
          </a:p>
          <a:p>
            <a:pPr algn="ctr">
              <a:defRPr sz="950">
                <a:solidFill>
                  <a:srgbClr val="FFFFFF"/>
                </a:solidFill>
                <a:latin typeface="Calibri"/>
              </a:defRPr>
            </a:pPr>
            <a:r>
              <a:t>сложные связи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2103120"/>
            <a:ext cx="1417320" cy="868680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900">
                <a:solidFill>
                  <a:srgbClr val="FFFFFF"/>
                </a:solidFill>
                <a:latin typeface="Calibri"/>
              </a:defRPr>
            </a:pPr>
            <a:r>
              <a:t>FK</a:t>
            </a:r>
          </a:p>
          <a:p>
            <a:pPr algn="ctr">
              <a:defRPr sz="950">
                <a:solidFill>
                  <a:srgbClr val="FFFFFF"/>
                </a:solidFill>
                <a:latin typeface="Calibri"/>
              </a:defRPr>
            </a:pPr>
            <a:r>
              <a:t>целостность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246120"/>
            <a:ext cx="1417320" cy="86868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900">
                <a:solidFill>
                  <a:srgbClr val="FFFFFF"/>
                </a:solidFill>
                <a:latin typeface="Calibri"/>
              </a:defRPr>
            </a:pPr>
            <a:r>
              <a:t>RBAC</a:t>
            </a:r>
          </a:p>
          <a:p>
            <a:pPr algn="ctr">
              <a:defRPr sz="950">
                <a:solidFill>
                  <a:srgbClr val="FFFFFF"/>
                </a:solidFill>
                <a:latin typeface="Calibri"/>
              </a:defRPr>
            </a:pPr>
            <a:r>
              <a:t>доступ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3246120"/>
            <a:ext cx="1417320" cy="8686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900">
                <a:solidFill>
                  <a:srgbClr val="FFFFFF"/>
                </a:solidFill>
                <a:latin typeface="Calibri"/>
              </a:defRPr>
            </a:pPr>
            <a:r>
              <a:t>CRUD</a:t>
            </a:r>
          </a:p>
          <a:p>
            <a:pPr algn="ctr">
              <a:defRPr sz="950">
                <a:solidFill>
                  <a:srgbClr val="FFFFFF"/>
                </a:solidFill>
                <a:latin typeface="Calibri"/>
              </a:defRPr>
            </a:pPr>
            <a:r>
              <a:t>операции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709160"/>
            <a:ext cx="37947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D97706"/>
                </a:solidFill>
                <a:latin typeface="Calibri"/>
              </a:defRPr>
            </a:pPr>
            <a:r>
              <a:t>Проблема → структурная модель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3/26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🏁  Цель и задачи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Цель: разработать систему хранения информации о художественных кинофильмах с ролевым доступом и CRUD-операциями.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Основные задачи: анализ предметной области, проектирование БД, реализация API, создание GUI и тестирование.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Результат должен быть демонстрируемым: БД разворачивается, API отвечает, клиент выполняет пользовательские сценарии.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План достижения цели</a:t>
            </a:r>
          </a:p>
        </p:txBody>
      </p:sp>
      <p:sp>
        <p:nvSpPr>
          <p:cNvPr id="10" name="Oval 9"/>
          <p:cNvSpPr/>
          <p:nvPr/>
        </p:nvSpPr>
        <p:spPr>
          <a:xfrm>
            <a:off x="7315200" y="2240280"/>
            <a:ext cx="457200" cy="457200"/>
          </a:xfrm>
          <a:prstGeom prst="ellipse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295144"/>
            <a:ext cx="265176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Анализ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2843784"/>
            <a:ext cx="457200" cy="457200"/>
          </a:xfrm>
          <a:prstGeom prst="ellipse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898648"/>
            <a:ext cx="265176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БД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3447288"/>
            <a:ext cx="457200" cy="457200"/>
          </a:xfrm>
          <a:prstGeom prst="ellipse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502152"/>
            <a:ext cx="265176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API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0" y="4050792"/>
            <a:ext cx="457200" cy="457200"/>
          </a:xfrm>
          <a:prstGeom prst="ellipse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4105656"/>
            <a:ext cx="265176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GUI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0" y="4654296"/>
            <a:ext cx="457200" cy="457200"/>
          </a:xfrm>
          <a:prstGeom prst="ellipse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4709160"/>
            <a:ext cx="265176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Тесты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4/26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🧩  Предметная область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Основные сущности проекта: movies, genres, directors, actors и пользователи с ролями.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Связи: один режиссёр может быть связан с несколькими фильмами; фильм может иметь несколько жанров и актёров.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Главная сложность — корректно хранить M:N связи и не допускать нарушения ссылочной целостности.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Сущности и связи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965960"/>
            <a:ext cx="1600200" cy="301752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80">
                <a:solidFill>
                  <a:srgbClr val="FFFFFF"/>
                </a:solidFill>
                <a:latin typeface="Calibri"/>
              </a:defRPr>
            </a:pPr>
            <a:r>
              <a:t>movies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267712"/>
            <a:ext cx="1600200" cy="685800"/>
          </a:xfrm>
          <a:prstGeom prst="roundRect">
            <a:avLst/>
          </a:prstGeom>
          <a:solidFill>
            <a:srgbClr val="F9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PK movie_id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title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year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FK director_id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1965960"/>
            <a:ext cx="1600200" cy="301752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80">
                <a:solidFill>
                  <a:srgbClr val="FFFFFF"/>
                </a:solidFill>
                <a:latin typeface="Calibri"/>
              </a:defRPr>
            </a:pPr>
            <a:r>
              <a:t>directors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2267712"/>
            <a:ext cx="1600200" cy="685800"/>
          </a:xfrm>
          <a:prstGeom prst="roundRect">
            <a:avLst/>
          </a:prstGeom>
          <a:solidFill>
            <a:srgbClr val="F9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PK director_id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788920"/>
            <a:ext cx="73152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5356A"/>
                </a:solidFill>
                <a:latin typeface="Calibri"/>
              </a:defRPr>
            </a:pPr>
            <a:r>
              <a:t>1:N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794760"/>
            <a:ext cx="1600200" cy="301752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80">
                <a:solidFill>
                  <a:srgbClr val="FFFFFF"/>
                </a:solidFill>
                <a:latin typeface="Calibri"/>
              </a:defRPr>
            </a:pPr>
            <a:r>
              <a:t>genres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096512"/>
            <a:ext cx="1600200" cy="685800"/>
          </a:xfrm>
          <a:prstGeom prst="roundRect">
            <a:avLst/>
          </a:prstGeom>
          <a:solidFill>
            <a:srgbClr val="F9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PK genre_id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3794760"/>
            <a:ext cx="1600200" cy="301752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80">
                <a:solidFill>
                  <a:srgbClr val="FFFFFF"/>
                </a:solidFill>
                <a:latin typeface="Calibri"/>
              </a:defRPr>
            </a:pPr>
            <a:r>
              <a:t>actors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4096512"/>
            <a:ext cx="1600200" cy="685800"/>
          </a:xfrm>
          <a:prstGeom prst="roundRect">
            <a:avLst/>
          </a:prstGeom>
          <a:solidFill>
            <a:srgbClr val="F9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PK actor_id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4617720"/>
            <a:ext cx="73152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5356A"/>
                </a:solidFill>
                <a:latin typeface="Calibri"/>
              </a:defRPr>
            </a:pPr>
            <a:r>
              <a:t>M:N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5/26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📋  Требования к системе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Функциональные: CRUD по фильмам и справочникам, поиск, фильтрация, статистика и просмотр карточек.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Нефункциональные: понятный интерфейс, устойчивость к ошибкам, предсказуемые ответы API и читаемая структура кода.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Эксплуатационные: наличие тестовых данных, возможность повторного развёртывания и демонстрации на защите.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Три группы требований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148840"/>
            <a:ext cx="3520440" cy="658368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Функции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CRUD / поиск / статистика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971800"/>
            <a:ext cx="3520440" cy="658368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Качество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ошибки / UX / стабильность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794760"/>
            <a:ext cx="3520440" cy="65836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Внедрение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документы / тестовые данные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6/26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🛡️  Ролевая модель и безопасность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Применяется RBAC-подход: права назначаются ролям, а не отдельным пользователям вручную.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Администратор управляет справочниками и всеми фильмами; редактор работает только с разрешёнными объектами.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Ключевые проверки выполняются на сервере, поэтому ограничения нельзя обойти простым изменением клиента.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RBAC + проверка кода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057400"/>
            <a:ext cx="1508760" cy="68580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Admin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полный CRUD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2057400"/>
            <a:ext cx="1508760" cy="685800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Editor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свои фильмы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42631" y="3063240"/>
            <a:ext cx="3474720" cy="329184"/>
          </a:xfrm>
          <a:prstGeom prst="roundRect">
            <a:avLst/>
          </a:prstGeom>
          <a:solidFill>
            <a:srgbClr val="2476DE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RBAC 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2631" y="3474720"/>
            <a:ext cx="3566160" cy="1645920"/>
          </a:xfrm>
          <a:prstGeom prst="roundRect">
            <a:avLst/>
          </a:prstGeom>
          <a:solidFill>
            <a:srgbClr val="101828"/>
          </a:solidFill>
          <a:ln>
            <a:solidFill>
              <a:srgbClr val="3E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223" y="3630168"/>
            <a:ext cx="3255264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80">
                <a:solidFill>
                  <a:srgbClr val="E2E8F0"/>
                </a:solidFill>
                <a:latin typeface="Consolas"/>
              </a:defRPr>
            </a:pPr>
            <a:r>
              <a:t>            if (user!.Role != "Administrator" &amp;&amp; movie.CuratorUserId != user.UserId)</a:t>
            </a:r>
          </a:p>
          <a:p>
            <a:r>
              <a:t>            {</a:t>
            </a:r>
          </a:p>
          <a:p>
            <a:r>
              <a:t>                return Error(403, "Недостаточно прав", "Можно открывать только фильмы, назначенные текущему пользователю.");</a:t>
            </a:r>
          </a:p>
          <a:p>
            <a:r>
              <a:t>            }</a:t>
            </a:r>
          </a:p>
          <a:p/>
          <a:p>
            <a:r>
              <a:t>            return Ok(new MovieEditDto</a:t>
            </a:r>
          </a:p>
          <a:p>
            <a:r>
              <a:t>            {</a:t>
            </a:r>
          </a:p>
          <a:p>
            <a:r>
              <a:t>                MovieId = movie.movieId,</a:t>
            </a:r>
          </a:p>
          <a:p>
            <a:r>
              <a:t>                Title = movie.title,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7/26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🗂️  ER-модель: логика данных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movies — центральная таблица карточек фильмов с названием, годом, описанием и ссылкой на режиссёра.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directors, genres и actors являются справочниками, которые переиспользуются многими фильмами.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movies_genres и movie_actors реализуют связи многие-ко-многим через составные первичные ключи.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Мини ER-схема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828800"/>
            <a:ext cx="1645920" cy="301752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80">
                <a:solidFill>
                  <a:srgbClr val="FFFFFF"/>
                </a:solidFill>
                <a:latin typeface="Calibri"/>
              </a:defRPr>
            </a:pPr>
            <a:r>
              <a:t>movies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130552"/>
            <a:ext cx="1645920" cy="685800"/>
          </a:xfrm>
          <a:prstGeom prst="roundRect">
            <a:avLst/>
          </a:prstGeom>
          <a:solidFill>
            <a:srgbClr val="F9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PK movie_id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title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year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FK director_id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828800"/>
            <a:ext cx="1600200" cy="301752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80">
                <a:solidFill>
                  <a:srgbClr val="FFFFFF"/>
                </a:solidFill>
                <a:latin typeface="Calibri"/>
              </a:defRPr>
            </a:pPr>
            <a:r>
              <a:t>directors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130552"/>
            <a:ext cx="1600200" cy="685800"/>
          </a:xfrm>
          <a:prstGeom prst="roundRect">
            <a:avLst/>
          </a:prstGeom>
          <a:solidFill>
            <a:srgbClr val="F9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PK director_id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429000"/>
            <a:ext cx="1783080" cy="301752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80">
                <a:solidFill>
                  <a:srgbClr val="FFFFFF"/>
                </a:solidFill>
                <a:latin typeface="Calibri"/>
              </a:defRPr>
            </a:pPr>
            <a:r>
              <a:t>movies_genres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730752"/>
            <a:ext cx="1783080" cy="685800"/>
          </a:xfrm>
          <a:prstGeom prst="roundRect">
            <a:avLst/>
          </a:prstGeom>
          <a:solidFill>
            <a:srgbClr val="F9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PK/FK movie_id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PK/FK genre_id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3429000"/>
            <a:ext cx="1783080" cy="301752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80">
                <a:solidFill>
                  <a:srgbClr val="FFFFFF"/>
                </a:solidFill>
                <a:latin typeface="Calibri"/>
              </a:defRPr>
            </a:pPr>
            <a:r>
              <a:t>movie_actors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3730752"/>
            <a:ext cx="1783080" cy="685800"/>
          </a:xfrm>
          <a:prstGeom prst="roundRect">
            <a:avLst/>
          </a:prstGeom>
          <a:solidFill>
            <a:srgbClr val="F9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PK/FK movie_id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PK/FK actor_id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9327" y="2670048"/>
            <a:ext cx="73152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5356A"/>
                </a:solidFill>
                <a:latin typeface="Calibri"/>
              </a:defRPr>
            </a:pPr>
            <a:r>
              <a:t>1:N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9327" y="4315968"/>
            <a:ext cx="73152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5356A"/>
                </a:solidFill>
                <a:latin typeface="Calibri"/>
              </a:defRPr>
            </a:pPr>
            <a:r>
              <a:t>M:N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8/26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⚖️  Нормализация до 3НФ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Данные разделены на самостоятельные сущности, чтобы не повторять имена актёров, жанров и режиссёров в каждой записи фильма.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Устранены повторяющиеся группы и транзитивные зависимости, которые приводят к аномалиям обновления.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Составные ключи в таблицах-связках не позволяют случайно добавить одну и ту же связь дважды.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Путь к 3НФ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920240"/>
            <a:ext cx="3611880" cy="566928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1НФ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нет повторяющихся групп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788920"/>
            <a:ext cx="3611880" cy="56692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2НФ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зависимости от полного ключа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657600"/>
            <a:ext cx="3611880" cy="566928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3НФ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нет транзитивных зависимостей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4800600"/>
            <a:ext cx="3611880" cy="329184"/>
          </a:xfrm>
          <a:prstGeom prst="roundRect">
            <a:avLst/>
          </a:prstGeom>
          <a:solidFill>
            <a:srgbClr val="ECFDF5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66534"/>
                </a:solidFill>
                <a:latin typeface="Calibri"/>
              </a:defRPr>
            </a:pPr>
            <a:r>
              <a:t>меньше дублей и аномалий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9/26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💾  SQL-реализация базы данных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SQL-скрипт создаёт базу movie_database, справочники, таблицу movies и таблицы связей.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Внешние ключи задают правила ON DELETE и ON UPDATE, чтобы связи не разрушались при изменении данных.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Тестовые записи позволяют сразу показать работу фильмов, жанров, актёров и режиссёров после развёртывания.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DDL-фрагмент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874519"/>
            <a:ext cx="3474720" cy="329184"/>
          </a:xfrm>
          <a:prstGeom prst="roundRect">
            <a:avLst/>
          </a:prstGeom>
          <a:solidFill>
            <a:srgbClr val="2476DE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SQL DDL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286000"/>
            <a:ext cx="3703320" cy="3154679"/>
          </a:xfrm>
          <a:prstGeom prst="roundRect">
            <a:avLst/>
          </a:prstGeom>
          <a:solidFill>
            <a:srgbClr val="101828"/>
          </a:solidFill>
          <a:ln>
            <a:solidFill>
              <a:srgbClr val="3E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2441448"/>
            <a:ext cx="3392424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E2E8F0"/>
                </a:solidFill>
                <a:latin typeface="Consolas"/>
              </a:defRPr>
            </a:pPr>
            <a:r>
              <a:t>CREATE TABLE movies (</a:t>
            </a:r>
          </a:p>
          <a:p>
            <a:r>
              <a:t>    movie_id INT PRIMARY KEY AUTO_INCREMENT,</a:t>
            </a:r>
          </a:p>
          <a:p>
            <a:r>
              <a:t>    title VARCHAR(200) NOT NULL,</a:t>
            </a:r>
          </a:p>
          <a:p>
            <a:r>
              <a:t>    year INT NOT NULL,</a:t>
            </a:r>
          </a:p>
          <a:p>
            <a:r>
              <a:t>    description TEXT,</a:t>
            </a:r>
          </a:p>
          <a:p>
            <a:r>
              <a:t>    director_id INT NULL,</a:t>
            </a:r>
          </a:p>
          <a:p>
            <a:r>
              <a:t>    CONSTRAINT fk_movies_director</a:t>
            </a:r>
          </a:p>
          <a:p>
            <a:r>
              <a:t>      FOREIGN KEY (director_id) REFERENCES directors(director_id)</a:t>
            </a:r>
          </a:p>
          <a:p>
            <a:r>
              <a:t>      ON DELETE SET NULL ON UPDATE CASCADE</a:t>
            </a:r>
          </a:p>
          <a:p>
            <a:r>
              <a:t>);</a:t>
            </a:r>
          </a:p>
          <a:p/>
          <a:p>
            <a:r>
              <a:t>CREATE TABLE movies_genres (</a:t>
            </a:r>
          </a:p>
          <a:p>
            <a:r>
              <a:t>    movie_id INT NOT NULL,</a:t>
            </a:r>
          </a:p>
          <a:p>
            <a:r>
              <a:t>    genre_id INT NOT NULL,</a:t>
            </a:r>
          </a:p>
          <a:p>
            <a:r>
              <a:t>    PRIMARY KEY (movie_id, genre_id)</a:t>
            </a:r>
          </a:p>
          <a:p>
            <a:r>
              <a:t>);</a:t>
            </a:r>
          </a:p>
          <a:p/>
          <a:p>
            <a:r>
              <a:t>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10/26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🏗️  Архитектура приложения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WPF-клиент отвечает за формы, навигацию, первичную валидацию и удобство пользователя.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ASP.NET Core API централизует маршруты, бизнес-правила, проверку ролей и формирование ответов.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MySQL хранит данные, а EF Core связывает объектную модель C# с реляционной структурой БД.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Слои приложения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148840"/>
            <a:ext cx="1143000" cy="731520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WPF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2148840"/>
            <a:ext cx="1417320" cy="7315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API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ASP.NET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0" y="2148840"/>
            <a:ext cx="960120" cy="73152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DB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MySQL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58200" y="2505456"/>
            <a:ext cx="182880" cy="0"/>
          </a:xfrm>
          <a:prstGeom prst="line">
            <a:avLst/>
          </a:prstGeom>
          <a:ln w="20320">
            <a:solidFill>
              <a:srgbClr val="247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2505456"/>
            <a:ext cx="182880" cy="0"/>
          </a:xfrm>
          <a:prstGeom prst="line">
            <a:avLst/>
          </a:prstGeom>
          <a:ln w="2032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0" y="3063240"/>
            <a:ext cx="68580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5356A"/>
                </a:solidFill>
                <a:latin typeface="Calibri"/>
              </a:defRPr>
            </a:pPr>
            <a:r>
              <a:t>HTTP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3063240"/>
            <a:ext cx="59436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5356A"/>
                </a:solidFill>
                <a:latin typeface="Calibri"/>
              </a:defRPr>
            </a:pPr>
            <a:r>
              <a:t>EF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4160520"/>
            <a:ext cx="365760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Presentation → API →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11/26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🔄  Поток обработки API-запроса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Клиент отправляет HTTP-запрос с параметрами или JSON-телом в соответствующий контроллер.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Контроллер валидирует данные, проверяет пользователя и применяет ограничения ролевой модели.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После операции с БД сервер возвращает JSON-ответ и корректный HTTP-статус: 200, 400, 403 или 404.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Request lifecycle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240280"/>
            <a:ext cx="713232" cy="640080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UI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28431" y="2560320"/>
            <a:ext cx="73152" cy="0"/>
          </a:xfrm>
          <a:prstGeom prst="line">
            <a:avLst/>
          </a:prstGeom>
          <a:ln w="13970">
            <a:solidFill>
              <a:srgbClr val="697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01583" y="2240280"/>
            <a:ext cx="713232" cy="64008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Controller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14815" y="2560320"/>
            <a:ext cx="73152" cy="0"/>
          </a:xfrm>
          <a:prstGeom prst="line">
            <a:avLst/>
          </a:prstGeom>
          <a:ln w="13970">
            <a:solidFill>
              <a:srgbClr val="697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87967" y="2240280"/>
            <a:ext cx="713232" cy="64008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RBAC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01199" y="2560320"/>
            <a:ext cx="73152" cy="0"/>
          </a:xfrm>
          <a:prstGeom prst="line">
            <a:avLst/>
          </a:prstGeom>
          <a:ln w="13970">
            <a:solidFill>
              <a:srgbClr val="697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74351" y="2240280"/>
            <a:ext cx="713232" cy="64008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EF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87583" y="2560320"/>
            <a:ext cx="73152" cy="0"/>
          </a:xfrm>
          <a:prstGeom prst="line">
            <a:avLst/>
          </a:prstGeom>
          <a:ln w="13970">
            <a:solidFill>
              <a:srgbClr val="697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460735" y="2240280"/>
            <a:ext cx="713232" cy="6400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JSON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3246120"/>
            <a:ext cx="3474720" cy="329184"/>
          </a:xfrm>
          <a:prstGeom prst="roundRect">
            <a:avLst/>
          </a:prstGeom>
          <a:solidFill>
            <a:srgbClr val="2476DE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HTTP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657600"/>
            <a:ext cx="3703320" cy="1600200"/>
          </a:xfrm>
          <a:prstGeom prst="roundRect">
            <a:avLst/>
          </a:prstGeom>
          <a:solidFill>
            <a:srgbClr val="101828"/>
          </a:solidFill>
          <a:ln>
            <a:solidFill>
              <a:srgbClr val="3E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9792" y="3813048"/>
            <a:ext cx="339242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200 OK</a:t>
            </a:r>
          </a:p>
          <a:p>
            <a:r>
              <a:t>400 Bad Request</a:t>
            </a:r>
          </a:p>
          <a:p>
            <a:r>
              <a:t>403 Forbidden</a:t>
            </a:r>
          </a:p>
          <a:p>
            <a:r>
              <a:t>404 Not Found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12/26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🧠  Контроллеры и бизнес-логика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MovieController содержит основные операции каталога: список, фильтрацию, карточку редактирования, статистику и CRUD.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DirectorsController и ActorsController обслуживают справочники и защищают изменения административными проверками.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Единый подход к ошибкам упрощает работу GUI: клиент понимает, что произошло и что показать пользователю.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Реальный код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828800"/>
            <a:ext cx="3474720" cy="329184"/>
          </a:xfrm>
          <a:prstGeom prst="roundRect">
            <a:avLst/>
          </a:prstGeom>
          <a:solidFill>
            <a:srgbClr val="2476DE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MovieController.cs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240280"/>
            <a:ext cx="3703320" cy="3611880"/>
          </a:xfrm>
          <a:prstGeom prst="roundRect">
            <a:avLst/>
          </a:prstGeom>
          <a:solidFill>
            <a:srgbClr val="101828"/>
          </a:solidFill>
          <a:ln>
            <a:solidFill>
              <a:srgbClr val="3E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2395728"/>
            <a:ext cx="3392424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40">
                <a:solidFill>
                  <a:srgbClr val="E2E8F0"/>
                </a:solidFill>
                <a:latin typeface="Consolas"/>
              </a:defRPr>
            </a:pPr>
            <a:r>
              <a:t>        [HttpGet]</a:t>
            </a:r>
          </a:p>
          <a:p>
            <a:r>
              <a:t>        public IActionResult Get([FromQuery] MovieFilterQuery query)</a:t>
            </a:r>
          </a:p>
          <a:p>
            <a:r>
              <a:t>        {</a:t>
            </a:r>
          </a:p>
          <a:p>
            <a:r>
              <a:t>            using var context = new DatabaseContext();</a:t>
            </a:r>
          </a:p>
          <a:p>
            <a:r>
              <a:t>            var user = RequireUser(context, out var failure);</a:t>
            </a:r>
          </a:p>
          <a:p>
            <a:r>
              <a:t>            if (failure != null)</a:t>
            </a:r>
          </a:p>
          <a:p>
            <a:r>
              <a:t>            {</a:t>
            </a:r>
          </a:p>
          <a:p>
            <a:r>
              <a:t>                return failure;</a:t>
            </a:r>
          </a:p>
          <a:p>
            <a:r>
              <a:t>            }</a:t>
            </a:r>
          </a:p>
          <a:p/>
          <a:p>
            <a:r>
              <a:t>            var movies = BuildMovieQuery(context, user!, query).ToList();</a:t>
            </a:r>
          </a:p>
          <a:p>
            <a:r>
              <a:t>            return Ok(movies);</a:t>
            </a:r>
          </a:p>
          <a:p>
            <a:r>
              <a:t>        }</a:t>
            </a:r>
          </a:p>
          <a:p/>
          <a:p>
            <a:r>
              <a:t>        [HttpGet("filter")]</a:t>
            </a:r>
          </a:p>
          <a:p>
            <a:r>
              <a:t>        public IActionResult Filter([FromQuery] MovieFilterQuery query)</a:t>
            </a:r>
          </a:p>
          <a:p>
            <a:r>
              <a:t>        {</a:t>
            </a:r>
          </a:p>
          <a:p>
            <a:r>
              <a:t>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13/26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🖥️  GUI и UX-подход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Основной пользовательский путь: вход в систему → каталог → карточка фильма → редактирование → сохранение.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Формы должны помогать пользователю: показывать ошибки, блокировать недоступные действия и сохранять понятную навигацию.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UX снижает количество ошибок ввода, но финальная проверка всё равно выполняется на сервере.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User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057400"/>
            <a:ext cx="3566160" cy="530352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1. Вход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экран / действие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743200"/>
            <a:ext cx="3566160" cy="53035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2. Каталог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экран / действие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429000"/>
            <a:ext cx="3566160" cy="53035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3. Карточка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экран / действие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4114800"/>
            <a:ext cx="3566160" cy="5303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4. Сохранение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экран / действие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14/26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🧪  Тестирование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Проверяются CRUD-сценарии по фильмам, жанрам, актёрам и режиссёрам, включая таблицы-связки.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Отдельно тестируются негативные сценарии: пустые поля, неверные идентификаторы и недостаточные права доступа.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Критерии успешности: корректные данные в БД, правильные HTTP-ответы и устойчивое поведение клиента.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Test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057400"/>
            <a:ext cx="1234440" cy="329184"/>
          </a:xfrm>
          <a:prstGeom prst="roundRect">
            <a:avLst/>
          </a:prstGeom>
          <a:solidFill>
            <a:srgbClr val="ECFDF5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6653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057400"/>
            <a:ext cx="214884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5356A"/>
                </a:solidFill>
                <a:latin typeface="Calibri"/>
              </a:defRPr>
            </a:pPr>
            <a:r>
              <a:t>CRUD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2715768"/>
            <a:ext cx="1234440" cy="329184"/>
          </a:xfrm>
          <a:prstGeom prst="roundRect">
            <a:avLst/>
          </a:prstGeom>
          <a:solidFill>
            <a:srgbClr val="ECFDF5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6653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2715768"/>
            <a:ext cx="214884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5356A"/>
                </a:solidFill>
                <a:latin typeface="Calibri"/>
              </a:defRPr>
            </a:pPr>
            <a:r>
              <a:t>RBAC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3374135"/>
            <a:ext cx="1234440" cy="329184"/>
          </a:xfrm>
          <a:prstGeom prst="roundRect">
            <a:avLst/>
          </a:prstGeom>
          <a:solidFill>
            <a:srgbClr val="ECFDF5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6653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3374135"/>
            <a:ext cx="214884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5356A"/>
                </a:solidFill>
                <a:latin typeface="Calibri"/>
              </a:defRPr>
            </a:pPr>
            <a:r>
              <a:t>Ошибки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4032503"/>
            <a:ext cx="1234440" cy="329184"/>
          </a:xfrm>
          <a:prstGeom prst="roundRect">
            <a:avLst/>
          </a:prstGeom>
          <a:solidFill>
            <a:srgbClr val="ECFDF5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6653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4032503"/>
            <a:ext cx="214884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5356A"/>
                </a:solidFill>
                <a:latin typeface="Calibri"/>
              </a:defRPr>
            </a:pPr>
            <a:r>
              <a:t>M:N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15/26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📈  Результаты проекта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Разработана структура БД для хранения связанных данных о фильмах, жанрах, актёрах и режиссёрах.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API реализует доступ к данным, фильтрацию, статистику, CRUD и серверную проверку прав.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Система готова к учебной демонстрации и может быть расширена без полной переработки архитектуры.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Итоговые артефакты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057400"/>
            <a:ext cx="1417320" cy="868680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90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  <a:p>
            <a:pPr algn="ctr">
              <a:defRPr sz="950">
                <a:solidFill>
                  <a:srgbClr val="FFFFFF"/>
                </a:solidFill>
                <a:latin typeface="Calibri"/>
              </a:defRPr>
            </a:pPr>
            <a:r>
              <a:t>таблиц БД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2057400"/>
            <a:ext cx="1417320" cy="86868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900">
                <a:solidFill>
                  <a:srgbClr val="FFFFFF"/>
                </a:solidFill>
                <a:latin typeface="Calibri"/>
              </a:defRPr>
            </a:pPr>
            <a:r>
              <a:t>API</a:t>
            </a:r>
          </a:p>
          <a:p>
            <a:pPr algn="ctr">
              <a:defRPr sz="950">
                <a:solidFill>
                  <a:srgbClr val="FFFFFF"/>
                </a:solidFill>
                <a:latin typeface="Calibri"/>
              </a:defRPr>
            </a:pPr>
            <a:r>
              <a:t>CRUD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246120"/>
            <a:ext cx="1417320" cy="86868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900">
                <a:solidFill>
                  <a:srgbClr val="FFFFFF"/>
                </a:solidFill>
                <a:latin typeface="Calibri"/>
              </a:defRPr>
            </a:pPr>
            <a:r>
              <a:t>RBAC</a:t>
            </a:r>
          </a:p>
          <a:p>
            <a:pPr algn="ctr">
              <a:defRPr sz="950">
                <a:solidFill>
                  <a:srgbClr val="FFFFFF"/>
                </a:solidFill>
                <a:latin typeface="Calibri"/>
              </a:defRPr>
            </a:pPr>
            <a:r>
              <a:t>доступ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3246120"/>
            <a:ext cx="1417320" cy="8686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900">
                <a:solidFill>
                  <a:srgbClr val="FFFFFF"/>
                </a:solidFill>
                <a:latin typeface="Calibri"/>
              </a:defRPr>
            </a:pPr>
            <a:r>
              <a:t>GUI</a:t>
            </a:r>
          </a:p>
          <a:p>
            <a:pPr algn="ctr">
              <a:defRPr sz="950">
                <a:solidFill>
                  <a:srgbClr val="FFFFFF"/>
                </a:solidFill>
                <a:latin typeface="Calibri"/>
              </a:defRPr>
            </a:pPr>
            <a:r>
              <a:t>сценарии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754880"/>
            <a:ext cx="3794760" cy="329184"/>
          </a:xfrm>
          <a:prstGeom prst="roundRect">
            <a:avLst/>
          </a:prstGeom>
          <a:solidFill>
            <a:srgbClr val="ECFDF5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66534"/>
                </a:solidFill>
                <a:latin typeface="Calibri"/>
              </a:defRPr>
            </a:pPr>
            <a:r>
              <a:t>цель курсовой достигнута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16/26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🎬  Демонстрационные данные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В БД добавлены стартовые фильмы: «Инцепция», «Список Шиндлера» и «Властелин колец». Это позволяет сразу показать работу каталога.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Для демонстрации заполнены справочники жанров, режиссёров и актёров, а также M:N связи фильмов с жанрами и актёрами.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Тестовый набор нужен не только для показа интерфейса, но и для проверки SQL-связей, фильтрации и статистических запросов.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Данные для показа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965960"/>
            <a:ext cx="3337560" cy="1536192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33488" y="2002536"/>
            <a:ext cx="1289304" cy="329184"/>
          </a:xfrm>
          <a:prstGeom prst="roundRect">
            <a:avLst/>
          </a:prstGeom>
          <a:solidFill>
            <a:srgbClr val="2476DE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69">
                <a:solidFill>
                  <a:srgbClr val="FFFFFF"/>
                </a:solidFill>
                <a:latin typeface="Calibri"/>
              </a:defRPr>
            </a:pPr>
            <a:r>
              <a:t>Фильм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59367" y="2002536"/>
            <a:ext cx="649224" cy="329184"/>
          </a:xfrm>
          <a:prstGeom prst="roundRect">
            <a:avLst/>
          </a:prstGeom>
          <a:solidFill>
            <a:srgbClr val="2476DE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69">
                <a:solidFill>
                  <a:srgbClr val="FFFFFF"/>
                </a:solidFill>
                <a:latin typeface="Calibri"/>
              </a:defRPr>
            </a:pPr>
            <a:r>
              <a:t>Год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45167" y="2002536"/>
            <a:ext cx="1289304" cy="329184"/>
          </a:xfrm>
          <a:prstGeom prst="roundRect">
            <a:avLst/>
          </a:prstGeom>
          <a:solidFill>
            <a:srgbClr val="2476DE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69">
                <a:solidFill>
                  <a:srgbClr val="FFFFFF"/>
                </a:solidFill>
                <a:latin typeface="Calibri"/>
              </a:defRPr>
            </a:pPr>
            <a:r>
              <a:t>Связь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1775" y="2423160"/>
            <a:ext cx="12527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Инцепция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7655" y="2423160"/>
            <a:ext cx="6126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2010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455" y="2423160"/>
            <a:ext cx="12527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жанр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775" y="2807208"/>
            <a:ext cx="12527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Шиндлер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7655" y="2807208"/>
            <a:ext cx="6126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1993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5" y="2807208"/>
            <a:ext cx="12527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реж.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5" y="3191256"/>
            <a:ext cx="12527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LOTR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7655" y="3191256"/>
            <a:ext cx="6126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2001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5" y="3191256"/>
            <a:ext cx="12527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актёр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4114800"/>
            <a:ext cx="1325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1">
                <a:solidFill>
                  <a:srgbClr val="15356A"/>
                </a:solidFill>
                <a:latin typeface="Calibri"/>
              </a:defRPr>
            </a:pPr>
            <a:r>
              <a:t>фильмы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4142232"/>
            <a:ext cx="2057400" cy="164592"/>
          </a:xfrm>
          <a:prstGeom prst="round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32520" y="4142232"/>
            <a:ext cx="1604772" cy="164592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4617720"/>
            <a:ext cx="1325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1">
                <a:solidFill>
                  <a:srgbClr val="15356A"/>
                </a:solidFill>
                <a:latin typeface="Calibri"/>
              </a:defRPr>
            </a:pPr>
            <a:r>
              <a:t>жанры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645152"/>
            <a:ext cx="2057400" cy="164592"/>
          </a:xfrm>
          <a:prstGeom prst="round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32520" y="4645152"/>
            <a:ext cx="1275588" cy="16459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5120640"/>
            <a:ext cx="1325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1">
                <a:solidFill>
                  <a:srgbClr val="15356A"/>
                </a:solidFill>
                <a:latin typeface="Calibri"/>
              </a:defRPr>
            </a:pPr>
            <a:r>
              <a:t>актеры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2520" y="5148072"/>
            <a:ext cx="2057400" cy="164592"/>
          </a:xfrm>
          <a:prstGeom prst="round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732520" y="5148072"/>
            <a:ext cx="1399032" cy="16459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17/26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📚  Документация и сопровождение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Документация фиксирует структуру БД, назначение таблиц, порядок развёртывания и основные пользовательские сценарии.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Описание API и контроллеров облегчает сопровождение проекта и объясняет, какие маршруты отвечают за каждую сущность.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Наличие документации делает проект понятным не только разработчику, но и администратору БД, пользователю и комиссии на защите.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Комплект документации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011680"/>
            <a:ext cx="3566160" cy="502920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ТЗ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требования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633472"/>
            <a:ext cx="3566160" cy="502920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API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маршруты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255264"/>
            <a:ext cx="3566160" cy="50292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User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сценарии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3877056"/>
            <a:ext cx="3566160" cy="50292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DB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таблицы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754880"/>
            <a:ext cx="3566160" cy="329184"/>
          </a:xfrm>
          <a:prstGeom prst="roundRect">
            <a:avLst/>
          </a:prstGeom>
          <a:solidFill>
            <a:srgbClr val="ECFDF5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66534"/>
                </a:solidFill>
                <a:latin typeface="Calibri"/>
              </a:defRPr>
            </a:pPr>
            <a:r>
              <a:t>проект легче защищать и сопровождать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18/26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🚀  Перспективы развития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Добавить JWT-аутентификацию, аудит действий пользователей и журнал изменений записей.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Расширить аналитику: отчёты по жанрам, годам, режиссёрам, активности пользователей и качеству данных.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Реализовать импорт/экспорт и интеграцию с внешними сервисами метаданных о фильмах.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Дальнейшее развитие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286000"/>
            <a:ext cx="822960" cy="685800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JWT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286000"/>
            <a:ext cx="822960" cy="685800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Аудит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286000"/>
            <a:ext cx="822960" cy="685800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Отчёты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286000"/>
            <a:ext cx="822960" cy="685800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Интеграции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3749039"/>
            <a:ext cx="361188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D97706"/>
                </a:solidFill>
                <a:latin typeface="Calibri"/>
              </a:defRPr>
            </a:pPr>
            <a:r>
              <a:t>roadmap развития системы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19/26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✅  Заключение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62636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5989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30">
                <a:solidFill>
                  <a:srgbClr val="212D42"/>
                </a:solidFill>
                <a:latin typeface="Calibri"/>
              </a:defRPr>
            </a:pPr>
            <a:r>
              <a:t>• Поставленная цель достигнута: спроектирована и описана система хранения данных о художественных фильмах.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Решение объединяет нормализованную БД, API-слой, ролевой доступ и пользовательский интерфейс.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10">
                <a:solidFill>
                  <a:srgbClr val="212D42"/>
                </a:solidFill>
                <a:latin typeface="Calibri"/>
              </a:defRPr>
            </a:pPr>
            <a:r>
              <a:t>• Проект демонстрирует практическое применение технологий разработки и защиты баз данных.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399032"/>
            <a:ext cx="44805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3822191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Что реализовано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011680"/>
            <a:ext cx="3611880" cy="658368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БД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нормализованная структура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834640"/>
            <a:ext cx="3611880" cy="65836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API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контроллеры и роли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657600"/>
            <a:ext cx="3611880" cy="658368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GUI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пользовательские сценарии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4800600"/>
            <a:ext cx="3611880" cy="329184"/>
          </a:xfrm>
          <a:prstGeom prst="roundRect">
            <a:avLst/>
          </a:prstGeom>
          <a:solidFill>
            <a:srgbClr val="ECFDF5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66534"/>
                </a:solidFill>
                <a:latin typeface="Calibri"/>
              </a:defRPr>
            </a:pPr>
            <a:r>
              <a:t>готово к защите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20/26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🧭  Полная ER-диаграмма базы данных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108813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828800" cy="301752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80">
                <a:solidFill>
                  <a:srgbClr val="FFFFFF"/>
                </a:solidFill>
                <a:latin typeface="Calibri"/>
              </a:defRPr>
            </a:pPr>
            <a:r>
              <a:t>movies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30552"/>
            <a:ext cx="1828800" cy="932688"/>
          </a:xfrm>
          <a:prstGeom prst="roundRect">
            <a:avLst/>
          </a:prstGeom>
          <a:solidFill>
            <a:srgbClr val="F9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PK movie_id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title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year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description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FK director_id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828800"/>
            <a:ext cx="1645920" cy="301752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80">
                <a:solidFill>
                  <a:srgbClr val="FFFFFF"/>
                </a:solidFill>
                <a:latin typeface="Calibri"/>
              </a:defRPr>
            </a:pPr>
            <a:r>
              <a:t>directors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130552"/>
            <a:ext cx="1645920" cy="658368"/>
          </a:xfrm>
          <a:prstGeom prst="roundRect">
            <a:avLst/>
          </a:prstGeom>
          <a:solidFill>
            <a:srgbClr val="F9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PK director_id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828800"/>
            <a:ext cx="1645920" cy="301752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80">
                <a:solidFill>
                  <a:srgbClr val="FFFFFF"/>
                </a:solidFill>
                <a:latin typeface="Calibri"/>
              </a:defRPr>
            </a:pPr>
            <a:r>
              <a:t>genres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130552"/>
            <a:ext cx="1645920" cy="658368"/>
          </a:xfrm>
          <a:prstGeom prst="roundRect">
            <a:avLst/>
          </a:prstGeom>
          <a:solidFill>
            <a:srgbClr val="F9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PK genre_id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828800"/>
            <a:ext cx="1645920" cy="301752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80">
                <a:solidFill>
                  <a:srgbClr val="FFFFFF"/>
                </a:solidFill>
                <a:latin typeface="Calibri"/>
              </a:defRPr>
            </a:pPr>
            <a:r>
              <a:t>actors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130552"/>
            <a:ext cx="1645920" cy="658368"/>
          </a:xfrm>
          <a:prstGeom prst="roundRect">
            <a:avLst/>
          </a:prstGeom>
          <a:solidFill>
            <a:srgbClr val="F9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PK actor_id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4160520"/>
            <a:ext cx="2011680" cy="301752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80">
                <a:solidFill>
                  <a:srgbClr val="FFFFFF"/>
                </a:solidFill>
                <a:latin typeface="Calibri"/>
              </a:defRPr>
            </a:pPr>
            <a:r>
              <a:t>movies_genres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4462272"/>
            <a:ext cx="2011680" cy="685800"/>
          </a:xfrm>
          <a:prstGeom prst="roundRect">
            <a:avLst/>
          </a:prstGeom>
          <a:solidFill>
            <a:srgbClr val="F9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PK/FK movie_id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PK/FK genre_id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4160520"/>
            <a:ext cx="2011680" cy="301752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80">
                <a:solidFill>
                  <a:srgbClr val="FFFFFF"/>
                </a:solidFill>
                <a:latin typeface="Calibri"/>
              </a:defRPr>
            </a:pPr>
            <a:r>
              <a:t>movie_actors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4462272"/>
            <a:ext cx="2011680" cy="685800"/>
          </a:xfrm>
          <a:prstGeom prst="roundRect">
            <a:avLst/>
          </a:prstGeom>
          <a:solidFill>
            <a:srgbClr val="F9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PK/FK movie_id</a:t>
            </a:r>
          </a:p>
          <a:p>
            <a:pPr>
              <a:spcAft>
                <a:spcPts val="50"/>
              </a:spcAft>
              <a:defRPr sz="819">
                <a:solidFill>
                  <a:srgbClr val="212D42"/>
                </a:solidFill>
                <a:latin typeface="Calibri"/>
              </a:defRPr>
            </a:pPr>
            <a:r>
              <a:t>PK/FK actor_id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2468880"/>
            <a:ext cx="68580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5356A"/>
                </a:solidFill>
                <a:latin typeface="Calibri"/>
              </a:defRPr>
            </a:pPr>
            <a:r>
              <a:t>1:N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246120"/>
            <a:ext cx="73152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5356A"/>
                </a:solidFill>
                <a:latin typeface="Calibri"/>
              </a:defRPr>
            </a:pPr>
            <a:r>
              <a:t>M:N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3246120"/>
            <a:ext cx="73152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5356A"/>
                </a:solidFill>
                <a:latin typeface="Calibri"/>
              </a:defRPr>
            </a:pPr>
            <a:r>
              <a:t>M:N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5532120"/>
            <a:ext cx="937260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movies — центральная таблица; справочники переиспользуются; M:N связи вынесены в отдельные таблицы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21/26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🏛️  Архитектура: от интерфейса до базы данных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108813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2331720" cy="914400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WPF Client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экраны, формы, 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331720"/>
            <a:ext cx="2423160" cy="9144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ASP.NET Core API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контроллеры, RBAC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331720"/>
            <a:ext cx="1965960" cy="9144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EF Core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ORM, запросы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331720"/>
            <a:ext cx="1737360" cy="91440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MySQL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PK/FK, данные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64992" y="2788920"/>
            <a:ext cx="457199" cy="0"/>
          </a:xfrm>
          <a:prstGeom prst="line">
            <a:avLst/>
          </a:prstGeom>
          <a:ln w="25400">
            <a:solidFill>
              <a:srgbClr val="247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81928" y="2788920"/>
            <a:ext cx="466344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32520" y="2788920"/>
            <a:ext cx="484632" cy="0"/>
          </a:xfrm>
          <a:prstGeom prst="line">
            <a:avLst/>
          </a:prstGeom>
          <a:ln w="2540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29000" y="2651760"/>
            <a:ext cx="749808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5356A"/>
                </a:solidFill>
                <a:latin typeface="Calibri"/>
              </a:defRPr>
            </a:pPr>
            <a:r>
              <a:t>HTTP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651760"/>
            <a:ext cx="749808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5356A"/>
                </a:solidFill>
                <a:latin typeface="Calibri"/>
              </a:defRPr>
            </a:pPr>
            <a:r>
              <a:t>LINQ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2651760"/>
            <a:ext cx="68580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15356A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114800"/>
            <a:ext cx="2331720" cy="685800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Validation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до отправки формы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4114800"/>
            <a:ext cx="2423160" cy="6858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Business rules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права и ошибки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4114800"/>
            <a:ext cx="1965960" cy="685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Mapping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модели ↔ таблицы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4114800"/>
            <a:ext cx="1737360" cy="68580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Integrity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ограничения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22/26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💻  Реальные вставки кода проекта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108813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3474720" cy="329184"/>
          </a:xfrm>
          <a:prstGeom prst="roundRect">
            <a:avLst/>
          </a:prstGeom>
          <a:solidFill>
            <a:srgbClr val="2476DE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MovieController: GET / фильтрация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4892040" cy="3840480"/>
          </a:xfrm>
          <a:prstGeom prst="roundRect">
            <a:avLst/>
          </a:prstGeom>
          <a:solidFill>
            <a:srgbClr val="101828"/>
          </a:solidFill>
          <a:ln>
            <a:solidFill>
              <a:srgbClr val="3E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04288"/>
            <a:ext cx="4581144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E2E8F0"/>
                </a:solidFill>
                <a:latin typeface="Consolas"/>
              </a:defRPr>
            </a:pPr>
            <a:r>
              <a:t>        [HttpGet]</a:t>
            </a:r>
          </a:p>
          <a:p>
            <a:r>
              <a:t>        public IActionResult Get([FromQuery] MovieFilterQuery query)</a:t>
            </a:r>
          </a:p>
          <a:p>
            <a:r>
              <a:t>        {</a:t>
            </a:r>
          </a:p>
          <a:p>
            <a:r>
              <a:t>            using var context = new DatabaseContext();</a:t>
            </a:r>
          </a:p>
          <a:p>
            <a:r>
              <a:t>            var user = RequireUser(context, out var failure);</a:t>
            </a:r>
          </a:p>
          <a:p>
            <a:r>
              <a:t>            if (failure != null)</a:t>
            </a:r>
          </a:p>
          <a:p>
            <a:r>
              <a:t>            {</a:t>
            </a:r>
          </a:p>
          <a:p>
            <a:r>
              <a:t>                return failure;</a:t>
            </a:r>
          </a:p>
          <a:p>
            <a:r>
              <a:t>            }</a:t>
            </a:r>
          </a:p>
          <a:p/>
          <a:p>
            <a:r>
              <a:t>            var movies = BuildMovieQuery(context, user!, query).ToList();</a:t>
            </a:r>
          </a:p>
          <a:p>
            <a:r>
              <a:t>            return Ok(movies);</a:t>
            </a:r>
          </a:p>
          <a:p>
            <a:r>
              <a:t>        }</a:t>
            </a:r>
          </a:p>
          <a:p/>
          <a:p>
            <a:r>
              <a:t>        [HttpGet("filter")]</a:t>
            </a:r>
          </a:p>
          <a:p>
            <a:r>
              <a:t>        public IActionResult Filter([FromQuery] MovieFilterQuery query)</a:t>
            </a:r>
          </a:p>
          <a:p>
            <a:r>
              <a:t>        {</a:t>
            </a:r>
          </a:p>
          <a:p>
            <a:r>
              <a:t>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3474720" cy="329184"/>
          </a:xfrm>
          <a:prstGeom prst="roundRect">
            <a:avLst/>
          </a:prstGeom>
          <a:solidFill>
            <a:srgbClr val="2476DE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DirectorsController: справочник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48840"/>
            <a:ext cx="4892040" cy="3840480"/>
          </a:xfrm>
          <a:prstGeom prst="roundRect">
            <a:avLst/>
          </a:prstGeom>
          <a:solidFill>
            <a:srgbClr val="101828"/>
          </a:solidFill>
          <a:ln>
            <a:solidFill>
              <a:srgbClr val="3E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2304288"/>
            <a:ext cx="4581144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E2E8F0"/>
                </a:solidFill>
                <a:latin typeface="Consolas"/>
              </a:defRPr>
            </a:pPr>
            <a:r>
              <a:t>        [HttpPost]</a:t>
            </a:r>
          </a:p>
          <a:p>
            <a:r>
              <a:t>        public IActionResult Post([FromBody] LookupItemDto request)</a:t>
            </a:r>
          </a:p>
          <a:p>
            <a:r>
              <a:t>        {</a:t>
            </a:r>
          </a:p>
          <a:p>
            <a:r>
              <a:t>            using var context = new DatabaseContext();</a:t>
            </a:r>
          </a:p>
          <a:p>
            <a:r>
              <a:t>            if (RequireAdministrator(context, out var failure) == null)</a:t>
            </a:r>
          </a:p>
          <a:p>
            <a:r>
              <a:t>            {</a:t>
            </a:r>
          </a:p>
          <a:p>
            <a:r>
              <a:t>                return failure!;</a:t>
            </a:r>
          </a:p>
          <a:p>
            <a:r>
              <a:t>            }</a:t>
            </a:r>
          </a:p>
          <a:p/>
          <a:p>
            <a:r>
              <a:t>            if (string.IsNullOrWhiteSpace(request.Name))</a:t>
            </a:r>
          </a:p>
          <a:p>
            <a:r>
              <a:t>            {</a:t>
            </a:r>
          </a:p>
          <a:p>
            <a:r>
              <a:t>                return Error(400, "Имя режиссера не заполнено");</a:t>
            </a:r>
          </a:p>
          <a:p>
            <a:r>
              <a:t>            }</a:t>
            </a:r>
          </a:p>
          <a:p/>
          <a:p>
            <a:r>
              <a:t>            var director = new Director { Name = request.Name.Trim() };</a:t>
            </a:r>
          </a:p>
          <a:p>
            <a:r>
              <a:t>            context.Directors.Add(director);</a:t>
            </a:r>
          </a:p>
          <a:p>
            <a:r>
              <a:t>            context.SaveChanges();</a:t>
            </a:r>
          </a:p>
          <a:p>
            <a:r>
              <a:t>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23/26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🖥️  Макет пользовательского сценария GUI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108813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2011680" cy="731520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Авторизация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роль пользователя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011680" cy="7315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Каталог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поиск и фильтр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20240"/>
            <a:ext cx="2011680" cy="7315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Карточка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данные фильма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920240"/>
            <a:ext cx="2011680" cy="73152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  <a:latin typeface="Calibri"/>
              </a:defRPr>
            </a:pPr>
            <a:r>
              <a:t>Сохранение</a:t>
            </a:r>
          </a:p>
          <a:p>
            <a:pPr algn="ctr">
              <a:defRPr sz="919">
                <a:solidFill>
                  <a:srgbClr val="FFFFFF"/>
                </a:solidFill>
                <a:latin typeface="Calibri"/>
              </a:defRPr>
            </a:pPr>
            <a:r>
              <a:t>API response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2286000"/>
            <a:ext cx="429768" cy="0"/>
          </a:xfrm>
          <a:prstGeom prst="line">
            <a:avLst/>
          </a:prstGeom>
          <a:ln w="25400">
            <a:solidFill>
              <a:srgbClr val="247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68112" y="2286000"/>
            <a:ext cx="448056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73568" y="2286000"/>
            <a:ext cx="457200" cy="0"/>
          </a:xfrm>
          <a:prstGeom prst="line">
            <a:avLst/>
          </a:prstGeom>
          <a:ln w="2540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51560" y="3657600"/>
            <a:ext cx="5120640" cy="182880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69848" y="3694176"/>
            <a:ext cx="1517904" cy="329184"/>
          </a:xfrm>
          <a:prstGeom prst="roundRect">
            <a:avLst/>
          </a:prstGeom>
          <a:solidFill>
            <a:srgbClr val="2476DE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69">
                <a:solidFill>
                  <a:srgbClr val="FFFFFF"/>
                </a:solidFill>
                <a:latin typeface="Calibri"/>
              </a:defRPr>
            </a:pPr>
            <a:r>
              <a:t>Поле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24327" y="3694176"/>
            <a:ext cx="2020824" cy="329184"/>
          </a:xfrm>
          <a:prstGeom prst="roundRect">
            <a:avLst/>
          </a:prstGeom>
          <a:solidFill>
            <a:srgbClr val="2476DE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69">
                <a:solidFill>
                  <a:srgbClr val="FFFFFF"/>
                </a:solidFill>
                <a:latin typeface="Calibri"/>
              </a:defRPr>
            </a:pPr>
            <a:r>
              <a:t>Проверка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1727" y="3694176"/>
            <a:ext cx="1472184" cy="329184"/>
          </a:xfrm>
          <a:prstGeom prst="roundRect">
            <a:avLst/>
          </a:prstGeom>
          <a:solidFill>
            <a:srgbClr val="2476DE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69">
                <a:solidFill>
                  <a:srgbClr val="FFFFFF"/>
                </a:solidFill>
                <a:latin typeface="Calibri"/>
              </a:defRPr>
            </a:pPr>
            <a:r>
              <a:t>Ответ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" y="4187952"/>
            <a:ext cx="14813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Название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2615" y="4187952"/>
            <a:ext cx="19842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обязательное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16" y="4187952"/>
            <a:ext cx="1435607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ошибка/OK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4645152"/>
            <a:ext cx="14813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Год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42615" y="4645152"/>
            <a:ext cx="19842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диапазон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0016" y="4645152"/>
            <a:ext cx="1435607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ошибка/OK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5102352"/>
            <a:ext cx="14813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Жанр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42615" y="5102352"/>
            <a:ext cx="19842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FK/M:N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5102352"/>
            <a:ext cx="1435607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связь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931920"/>
            <a:ext cx="3794760" cy="329184"/>
          </a:xfrm>
          <a:prstGeom prst="roundRect">
            <a:avLst/>
          </a:prstGeom>
          <a:solidFill>
            <a:srgbClr val="EBF5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5356A"/>
                </a:solidFill>
                <a:latin typeface="Calibri"/>
              </a:defRPr>
            </a:pPr>
            <a:r>
              <a:t>UI помогает пользователю, но финальная проверка остаётся на сервере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24/26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5356A"/>
                </a:solidFill>
                <a:latin typeface="Calibri"/>
              </a:defRPr>
            </a:pPr>
            <a:r>
              <a:t>🧪  Матрица тестирования и критерии приёмки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99032"/>
            <a:ext cx="1088136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7223760" cy="3072384"/>
          </a:xfrm>
          <a:prstGeom prst="roundRect">
            <a:avLst/>
          </a:prstGeom>
          <a:solidFill>
            <a:srgbClr val="FAFCFF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1865376"/>
            <a:ext cx="1426464" cy="329184"/>
          </a:xfrm>
          <a:prstGeom prst="roundRect">
            <a:avLst/>
          </a:prstGeom>
          <a:solidFill>
            <a:srgbClr val="2476DE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69">
                <a:solidFill>
                  <a:srgbClr val="FFFFFF"/>
                </a:solidFill>
                <a:latin typeface="Calibri"/>
              </a:defRPr>
            </a:pPr>
            <a:r>
              <a:t>Блок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5728" y="1865376"/>
            <a:ext cx="3895344" cy="329184"/>
          </a:xfrm>
          <a:prstGeom prst="roundRect">
            <a:avLst/>
          </a:prstGeom>
          <a:solidFill>
            <a:srgbClr val="2476DE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69">
                <a:solidFill>
                  <a:srgbClr val="FFFFFF"/>
                </a:solidFill>
                <a:latin typeface="Calibri"/>
              </a:defRPr>
            </a:pPr>
            <a:r>
              <a:t>Что проверяется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1865376"/>
            <a:ext cx="1792224" cy="329184"/>
          </a:xfrm>
          <a:prstGeom prst="roundRect">
            <a:avLst/>
          </a:prstGeom>
          <a:solidFill>
            <a:srgbClr val="2476DE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69">
                <a:solidFill>
                  <a:srgbClr val="FFFFFF"/>
                </a:solidFill>
                <a:latin typeface="Calibri"/>
              </a:defRPr>
            </a:pPr>
            <a:r>
              <a:t>Ожидание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14016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CRUD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4016" y="2414016"/>
            <a:ext cx="38587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создание/изменение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414016"/>
            <a:ext cx="17556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200 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926080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RBAC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4016" y="2926080"/>
            <a:ext cx="38587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чужие записи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926080"/>
            <a:ext cx="17556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403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438144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Ввод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" y="3438144"/>
            <a:ext cx="38587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пустые поля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438144"/>
            <a:ext cx="17556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3950208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Связи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950208"/>
            <a:ext cx="38587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M:N таблицы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950208"/>
            <a:ext cx="17556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нет дублей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462272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Поиск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14016" y="4462272"/>
            <a:ext cx="38587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фильтры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462272"/>
            <a:ext cx="17556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9">
                <a:solidFill>
                  <a:srgbClr val="212D42"/>
                </a:solidFill>
                <a:latin typeface="Calibri"/>
              </a:defRPr>
            </a:pPr>
            <a:r>
              <a:t>верный список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965960"/>
            <a:ext cx="1325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1">
                <a:solidFill>
                  <a:srgbClr val="15356A"/>
                </a:solidFill>
                <a:latin typeface="Calibri"/>
              </a:defRPr>
            </a:pPr>
            <a:r>
              <a:t>CRUD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1993391"/>
            <a:ext cx="2057400" cy="164592"/>
          </a:xfrm>
          <a:prstGeom prst="round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0" y="1993391"/>
            <a:ext cx="1954529" cy="164592"/>
          </a:xfrm>
          <a:prstGeom prst="round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468880"/>
            <a:ext cx="1325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1">
                <a:solidFill>
                  <a:srgbClr val="15356A"/>
                </a:solidFill>
                <a:latin typeface="Calibri"/>
              </a:defRPr>
            </a:pPr>
            <a:r>
              <a:t>RBAC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2496312"/>
            <a:ext cx="2057400" cy="164592"/>
          </a:xfrm>
          <a:prstGeom prst="round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01200" y="2496312"/>
            <a:ext cx="1810512" cy="164592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2971800"/>
            <a:ext cx="1325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1">
                <a:solidFill>
                  <a:srgbClr val="15356A"/>
                </a:solidFill>
                <a:latin typeface="Calibri"/>
              </a:defRPr>
            </a:pPr>
            <a:r>
              <a:t>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2999232"/>
            <a:ext cx="2057400" cy="164592"/>
          </a:xfrm>
          <a:prstGeom prst="round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01200" y="2999232"/>
            <a:ext cx="1851660" cy="16459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3474720"/>
            <a:ext cx="1325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1">
                <a:solidFill>
                  <a:srgbClr val="15356A"/>
                </a:solidFill>
                <a:latin typeface="Calibri"/>
              </a:defRPr>
            </a:pPr>
            <a:r>
              <a:t>GUI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3502151"/>
            <a:ext cx="2057400" cy="164592"/>
          </a:xfrm>
          <a:prstGeom prst="round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01200" y="3502151"/>
            <a:ext cx="1687068" cy="16459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3977639"/>
            <a:ext cx="1325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1">
                <a:solidFill>
                  <a:srgbClr val="15356A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0" y="4005072"/>
            <a:ext cx="2057400" cy="164592"/>
          </a:xfrm>
          <a:prstGeom prst="round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601200" y="4005072"/>
            <a:ext cx="1892808" cy="16459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51560" y="5532120"/>
            <a:ext cx="9372600" cy="329184"/>
          </a:xfrm>
          <a:prstGeom prst="roundRect">
            <a:avLst/>
          </a:prstGeom>
          <a:solidFill>
            <a:srgbClr val="ECFDF5"/>
          </a:solidFill>
          <a:ln>
            <a:solidFill>
              <a:srgbClr val="D6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66534"/>
                </a:solidFill>
                <a:latin typeface="Calibri"/>
              </a:defRPr>
            </a:pPr>
            <a:r>
              <a:t>Критерий готовности: корректные данные, понятные ошибки, соблюдение прав и стабильный пользовательский сценарий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25/26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5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3090672" cy="38404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247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A91"/>
                </a:solidFill>
                <a:latin typeface="Calibri"/>
              </a:defRPr>
            </a:pPr>
            <a:r>
              <a:t>Курсовая работа • База данных художественных кинофильмов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A91"/>
                </a:solidFill>
                <a:latin typeface="Calibri"/>
              </a:defRPr>
            </a:pPr>
            <a:r>
              <a:t>26/26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241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5200">
                <a:solidFill>
                  <a:srgbClr val="15356A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383280"/>
            <a:ext cx="8961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12D42"/>
                </a:solidFill>
                <a:latin typeface="Calibri"/>
              </a:defRPr>
            </a:pPr>
            <a:r>
              <a:t>Готов(а) ответить на вопросы комиссии и показать демонстрацию.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